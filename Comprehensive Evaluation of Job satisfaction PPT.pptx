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rdo Bold" panose="020B0604020202020204" charset="-79"/>
      <p:regular r:id="rId11"/>
    </p:embeddedFont>
    <p:embeddedFont>
      <p:font typeface="Open Sauce" panose="020B0604020202020204" charset="0"/>
      <p:regular r:id="rId12"/>
    </p:embeddedFont>
    <p:embeddedFont>
      <p:font typeface="Open Sau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16787" y="2703105"/>
            <a:ext cx="7561787" cy="4880790"/>
          </a:xfrm>
          <a:custGeom>
            <a:avLst/>
            <a:gdLst/>
            <a:ahLst/>
            <a:cxnLst/>
            <a:rect l="l" t="t" r="r" b="b"/>
            <a:pathLst>
              <a:path w="7561787" h="4880790">
                <a:moveTo>
                  <a:pt x="0" y="0"/>
                </a:moveTo>
                <a:lnTo>
                  <a:pt x="7561788" y="0"/>
                </a:lnTo>
                <a:lnTo>
                  <a:pt x="7561788" y="4880790"/>
                </a:lnTo>
                <a:lnTo>
                  <a:pt x="0" y="4880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-481076"/>
            <a:ext cx="5755498" cy="3019551"/>
          </a:xfrm>
          <a:custGeom>
            <a:avLst/>
            <a:gdLst/>
            <a:ahLst/>
            <a:cxnLst/>
            <a:rect l="l" t="t" r="r" b="b"/>
            <a:pathLst>
              <a:path w="5755498" h="3019551">
                <a:moveTo>
                  <a:pt x="0" y="0"/>
                </a:moveTo>
                <a:lnTo>
                  <a:pt x="5755498" y="0"/>
                </a:lnTo>
                <a:lnTo>
                  <a:pt x="5755498" y="3019552"/>
                </a:lnTo>
                <a:lnTo>
                  <a:pt x="0" y="3019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4274721"/>
            <a:ext cx="8588087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Comprehensive Evaluation of Job satisfaction using </a:t>
            </a:r>
          </a:p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Deep Learning Approaches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249342"/>
            <a:ext cx="633368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Devanshu Singh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999" y="2636430"/>
            <a:ext cx="840700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Deep Learning and Generative AI (MSCDAD_A)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4294" y="2400300"/>
            <a:ext cx="4855006" cy="6251512"/>
            <a:chOff x="0" y="0"/>
            <a:chExt cx="6473342" cy="8335350"/>
          </a:xfrm>
        </p:grpSpPr>
        <p:sp>
          <p:nvSpPr>
            <p:cNvPr id="3" name="Freeform 3"/>
            <p:cNvSpPr/>
            <p:nvPr/>
          </p:nvSpPr>
          <p:spPr>
            <a:xfrm>
              <a:off x="68605" y="0"/>
              <a:ext cx="4048488" cy="4042021"/>
            </a:xfrm>
            <a:custGeom>
              <a:avLst/>
              <a:gdLst/>
              <a:ahLst/>
              <a:cxnLst/>
              <a:rect l="l" t="t" r="r" b="b"/>
              <a:pathLst>
                <a:path w="4048488" h="4042021">
                  <a:moveTo>
                    <a:pt x="0" y="0"/>
                  </a:moveTo>
                  <a:lnTo>
                    <a:pt x="4048488" y="0"/>
                  </a:lnTo>
                  <a:lnTo>
                    <a:pt x="4048488" y="4042021"/>
                  </a:lnTo>
                  <a:lnTo>
                    <a:pt x="0" y="404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 rot="-2247552">
              <a:off x="3527777" y="2817179"/>
              <a:ext cx="2453603" cy="2449684"/>
            </a:xfrm>
            <a:custGeom>
              <a:avLst/>
              <a:gdLst/>
              <a:ahLst/>
              <a:cxnLst/>
              <a:rect l="l" t="t" r="r" b="b"/>
              <a:pathLst>
                <a:path w="2453603" h="2449684">
                  <a:moveTo>
                    <a:pt x="0" y="0"/>
                  </a:moveTo>
                  <a:lnTo>
                    <a:pt x="2453603" y="0"/>
                  </a:lnTo>
                  <a:lnTo>
                    <a:pt x="2453603" y="2449684"/>
                  </a:lnTo>
                  <a:lnTo>
                    <a:pt x="0" y="2449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-2893323">
              <a:off x="692209" y="4275458"/>
              <a:ext cx="3370161" cy="3364778"/>
            </a:xfrm>
            <a:custGeom>
              <a:avLst/>
              <a:gdLst/>
              <a:ahLst/>
              <a:cxnLst/>
              <a:rect l="l" t="t" r="r" b="b"/>
              <a:pathLst>
                <a:path w="3370161" h="3364778">
                  <a:moveTo>
                    <a:pt x="0" y="0"/>
                  </a:moveTo>
                  <a:lnTo>
                    <a:pt x="3370161" y="0"/>
                  </a:lnTo>
                  <a:lnTo>
                    <a:pt x="3370161" y="3364777"/>
                  </a:lnTo>
                  <a:lnTo>
                    <a:pt x="0" y="336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4574896" y="146891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8"/>
                </a:lnTo>
                <a:lnTo>
                  <a:pt x="0" y="176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099008"/>
            <a:ext cx="10763673" cy="208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39"/>
              </a:lnSpc>
              <a:buFont typeface="Arial"/>
              <a:buChar char="•"/>
            </a:pPr>
            <a:r>
              <a:rPr lang="en-US" sz="2999" b="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When evaluating job opportunities, what are the most effective ways to assess whether a company is a good fit and maintains a positive work environment?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028700"/>
            <a:ext cx="840021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725732"/>
            <a:ext cx="10763673" cy="292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An AI-driven solution leveraging deep learning to predict employee satisfaction scores based on company reviews, offering fast, transparent, and reliable insights with built-in interpretability for informed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4640" y="-234109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8"/>
                </a:lnTo>
                <a:lnTo>
                  <a:pt x="0" y="176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494698" y="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647700"/>
            <a:ext cx="941571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About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89503"/>
            <a:ext cx="941571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Bi-LSTM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977592"/>
            <a:ext cx="941571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DistilBERT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79040"/>
            <a:ext cx="1211580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Uses a BiLSTM with an attention mechanism to focus on important words in reviews (pros, cons and headlines integrating with overall rating)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615767"/>
            <a:ext cx="1211580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Utilizes a pretrained advanced DistilBERT transformer to generate context-aware text embeddings.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544463"/>
            <a:ext cx="1211580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Integrates embeddings for job title, location, and structured features for a multi-input architecture.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529413"/>
            <a:ext cx="1211580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Designed for sequence learning and interpretability using token-level attention.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631767"/>
            <a:ext cx="1211580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Fine-tuned on review texts to capture semantic nuances and improve classification performance.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619192"/>
            <a:ext cx="12115800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Efficient and powerful for handling large-scale natural language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840021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So basically,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69093"/>
            <a:ext cx="10128939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39"/>
              </a:lnSpc>
              <a:buFont typeface="Arial"/>
              <a:buChar char="•"/>
            </a:pPr>
            <a:r>
              <a:rPr lang="en-US" sz="2999" b="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 this is basically sentiment analysis for Glassdoor job reviews, right?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029200"/>
            <a:ext cx="10128939" cy="233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NO! This is not just any sentiment analysis, but it helps measure the intensity of sentiments on the scale of 1 - 5 while providing interpretability and insights generated from it.</a:t>
            </a:r>
          </a:p>
        </p:txBody>
      </p:sp>
      <p:sp>
        <p:nvSpPr>
          <p:cNvPr id="5" name="Freeform 5"/>
          <p:cNvSpPr/>
          <p:nvPr/>
        </p:nvSpPr>
        <p:spPr>
          <a:xfrm>
            <a:off x="14574896" y="146891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8"/>
                </a:lnTo>
                <a:lnTo>
                  <a:pt x="0" y="176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312135" y="3726243"/>
            <a:ext cx="4947165" cy="4227577"/>
          </a:xfrm>
          <a:custGeom>
            <a:avLst/>
            <a:gdLst/>
            <a:ahLst/>
            <a:cxnLst/>
            <a:rect l="l" t="t" r="r" b="b"/>
            <a:pathLst>
              <a:path w="4947165" h="4227577">
                <a:moveTo>
                  <a:pt x="0" y="0"/>
                </a:moveTo>
                <a:lnTo>
                  <a:pt x="4947165" y="0"/>
                </a:lnTo>
                <a:lnTo>
                  <a:pt x="4947165" y="4227577"/>
                </a:lnTo>
                <a:lnTo>
                  <a:pt x="0" y="4227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87774"/>
            <a:ext cx="861450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DistilBERT + SHAP</a:t>
            </a:r>
          </a:p>
        </p:txBody>
      </p:sp>
      <p:sp>
        <p:nvSpPr>
          <p:cNvPr id="3" name="Freeform 3"/>
          <p:cNvSpPr/>
          <p:nvPr/>
        </p:nvSpPr>
        <p:spPr>
          <a:xfrm>
            <a:off x="14926406" y="-386509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8"/>
                </a:lnTo>
                <a:lnTo>
                  <a:pt x="0" y="176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29491" y="495300"/>
            <a:ext cx="861450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Process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356126"/>
            <a:ext cx="60282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2. Explainibility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792720"/>
            <a:ext cx="60282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3.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62649"/>
            <a:ext cx="60282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1.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11649"/>
            <a:ext cx="16230600" cy="162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Text Preprocessing and Tokenization: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Used DistilBertTokenizerFast to tokenize reviews (headlines, pros, cons) with attention masks and dynamic padding for compatibility with transformer models.</a:t>
            </a:r>
          </a:p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Structured Feature Engineering: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Selected top correlated structured features, handled missing values using median imputation, normalized data, and converted overall_ratings into categorical classes (0–4)</a:t>
            </a:r>
          </a:p>
          <a:p>
            <a:pPr algn="l">
              <a:lnSpc>
                <a:spcPts val="2600"/>
              </a:lnSpc>
            </a:pPr>
            <a:endParaRPr lang="en-US" sz="2000">
              <a:solidFill>
                <a:srgbClr val="315938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4105051"/>
            <a:ext cx="16230600" cy="227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Data Splitting and Preparation: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Converted tensors to NumPy arrays, split into train-test-validation sets, and built a custom BertFusionModel to merge transformer and structured inputs.</a:t>
            </a:r>
          </a:p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Model Compilation and Training: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Applied class weights, early stopping, and learning rate reduction; fine-tuned DistilBERT by freezing initial layers and unfreezing later layers.</a:t>
            </a:r>
          </a:p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Model Evaluation: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Displayed classification report, model summary, and plotted accuracy/loss curves, confusion matrix, and per-class accuracy for performance assessment.</a:t>
            </a:r>
          </a:p>
          <a:p>
            <a:pPr algn="l">
              <a:lnSpc>
                <a:spcPts val="2600"/>
              </a:lnSpc>
            </a:pPr>
            <a:endParaRPr lang="en-US" sz="2000">
              <a:solidFill>
                <a:srgbClr val="315938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846980"/>
            <a:ext cx="16230600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Interpretability with SHAP:</a:t>
            </a: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Used SHAP Explainer for both text and structured inputs, visualized token-level force plots, and generated combined SHAP bar graphs and contribution summaries.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283575"/>
            <a:ext cx="16230600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1">
                <a:solidFill>
                  <a:srgbClr val="3159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Insights Generation: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 Visualized trends like satisfaction by location, and before-after SHAP word usage to derive meaningful insights from the model’s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26406" y="0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9"/>
                </a:lnTo>
                <a:lnTo>
                  <a:pt x="0" y="176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1020" y="2449243"/>
            <a:ext cx="6707220" cy="1416875"/>
          </a:xfrm>
          <a:custGeom>
            <a:avLst/>
            <a:gdLst/>
            <a:ahLst/>
            <a:cxnLst/>
            <a:rect l="l" t="t" r="r" b="b"/>
            <a:pathLst>
              <a:path w="6707220" h="1416875">
                <a:moveTo>
                  <a:pt x="0" y="0"/>
                </a:moveTo>
                <a:lnTo>
                  <a:pt x="6707220" y="0"/>
                </a:lnTo>
                <a:lnTo>
                  <a:pt x="6707220" y="1416875"/>
                </a:lnTo>
                <a:lnTo>
                  <a:pt x="0" y="1416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11020" y="4741813"/>
            <a:ext cx="6707220" cy="1551045"/>
          </a:xfrm>
          <a:custGeom>
            <a:avLst/>
            <a:gdLst/>
            <a:ahLst/>
            <a:cxnLst/>
            <a:rect l="l" t="t" r="r" b="b"/>
            <a:pathLst>
              <a:path w="6707220" h="1551045">
                <a:moveTo>
                  <a:pt x="0" y="0"/>
                </a:moveTo>
                <a:lnTo>
                  <a:pt x="6707220" y="0"/>
                </a:lnTo>
                <a:lnTo>
                  <a:pt x="6707220" y="1551044"/>
                </a:lnTo>
                <a:lnTo>
                  <a:pt x="0" y="1551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11020" y="7165982"/>
            <a:ext cx="6707220" cy="2472809"/>
          </a:xfrm>
          <a:custGeom>
            <a:avLst/>
            <a:gdLst/>
            <a:ahLst/>
            <a:cxnLst/>
            <a:rect l="l" t="t" r="r" b="b"/>
            <a:pathLst>
              <a:path w="6707220" h="2472809">
                <a:moveTo>
                  <a:pt x="0" y="0"/>
                </a:moveTo>
                <a:lnTo>
                  <a:pt x="6707220" y="0"/>
                </a:lnTo>
                <a:lnTo>
                  <a:pt x="6707220" y="2472809"/>
                </a:lnTo>
                <a:lnTo>
                  <a:pt x="0" y="2472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149629" y="2175692"/>
            <a:ext cx="6458880" cy="1876644"/>
          </a:xfrm>
          <a:custGeom>
            <a:avLst/>
            <a:gdLst/>
            <a:ahLst/>
            <a:cxnLst/>
            <a:rect l="l" t="t" r="r" b="b"/>
            <a:pathLst>
              <a:path w="6458880" h="1876644">
                <a:moveTo>
                  <a:pt x="0" y="0"/>
                </a:moveTo>
                <a:lnTo>
                  <a:pt x="6458879" y="0"/>
                </a:lnTo>
                <a:lnTo>
                  <a:pt x="6458879" y="1876645"/>
                </a:lnTo>
                <a:lnTo>
                  <a:pt x="0" y="1876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149629" y="4767164"/>
            <a:ext cx="6458880" cy="2147578"/>
          </a:xfrm>
          <a:custGeom>
            <a:avLst/>
            <a:gdLst/>
            <a:ahLst/>
            <a:cxnLst/>
            <a:rect l="l" t="t" r="r" b="b"/>
            <a:pathLst>
              <a:path w="6458880" h="2147578">
                <a:moveTo>
                  <a:pt x="0" y="0"/>
                </a:moveTo>
                <a:lnTo>
                  <a:pt x="6458879" y="0"/>
                </a:lnTo>
                <a:lnTo>
                  <a:pt x="6458879" y="2147577"/>
                </a:lnTo>
                <a:lnTo>
                  <a:pt x="0" y="2147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149629" y="7483066"/>
            <a:ext cx="7274633" cy="2263683"/>
          </a:xfrm>
          <a:custGeom>
            <a:avLst/>
            <a:gdLst/>
            <a:ahLst/>
            <a:cxnLst/>
            <a:rect l="l" t="t" r="r" b="b"/>
            <a:pathLst>
              <a:path w="7274633" h="2263683">
                <a:moveTo>
                  <a:pt x="0" y="0"/>
                </a:moveTo>
                <a:lnTo>
                  <a:pt x="7274632" y="0"/>
                </a:lnTo>
                <a:lnTo>
                  <a:pt x="7274632" y="2263683"/>
                </a:lnTo>
                <a:lnTo>
                  <a:pt x="0" y="2263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6718" b="-10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11020" y="647700"/>
            <a:ext cx="1341444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Important Code Snippets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1020" y="1989545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1. Data preprocessing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1020" y="4278263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2. Exploratory Data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1020" y="6702432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3. Model Application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38371" y="1715994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4.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38371" y="4269824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5. Explainibility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9629" y="7133816"/>
            <a:ext cx="84273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Fig 6.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4640" y="-234109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8"/>
                </a:lnTo>
                <a:lnTo>
                  <a:pt x="0" y="176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537935" y="5782359"/>
            <a:ext cx="5475770" cy="3483959"/>
          </a:xfrm>
          <a:custGeom>
            <a:avLst/>
            <a:gdLst/>
            <a:ahLst/>
            <a:cxnLst/>
            <a:rect l="l" t="t" r="r" b="b"/>
            <a:pathLst>
              <a:path w="5475770" h="3483959">
                <a:moveTo>
                  <a:pt x="0" y="0"/>
                </a:moveTo>
                <a:lnTo>
                  <a:pt x="5475770" y="0"/>
                </a:lnTo>
                <a:lnTo>
                  <a:pt x="5475770" y="3483958"/>
                </a:lnTo>
                <a:lnTo>
                  <a:pt x="0" y="348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198193" y="1799599"/>
            <a:ext cx="6093206" cy="3483481"/>
          </a:xfrm>
          <a:custGeom>
            <a:avLst/>
            <a:gdLst/>
            <a:ahLst/>
            <a:cxnLst/>
            <a:rect l="l" t="t" r="r" b="b"/>
            <a:pathLst>
              <a:path w="6093206" h="3483481">
                <a:moveTo>
                  <a:pt x="0" y="0"/>
                </a:moveTo>
                <a:lnTo>
                  <a:pt x="6093206" y="0"/>
                </a:lnTo>
                <a:lnTo>
                  <a:pt x="6093206" y="3483480"/>
                </a:lnTo>
                <a:lnTo>
                  <a:pt x="0" y="3483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8" r="-4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900585" y="5567530"/>
            <a:ext cx="4646390" cy="3531257"/>
          </a:xfrm>
          <a:custGeom>
            <a:avLst/>
            <a:gdLst/>
            <a:ahLst/>
            <a:cxnLst/>
            <a:rect l="l" t="t" r="r" b="b"/>
            <a:pathLst>
              <a:path w="4646390" h="3531257">
                <a:moveTo>
                  <a:pt x="0" y="0"/>
                </a:moveTo>
                <a:lnTo>
                  <a:pt x="4646391" y="0"/>
                </a:lnTo>
                <a:lnTo>
                  <a:pt x="4646391" y="3531257"/>
                </a:lnTo>
                <a:lnTo>
                  <a:pt x="0" y="3531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37935" y="1704975"/>
            <a:ext cx="5431658" cy="3578104"/>
          </a:xfrm>
          <a:custGeom>
            <a:avLst/>
            <a:gdLst/>
            <a:ahLst/>
            <a:cxnLst/>
            <a:rect l="l" t="t" r="r" b="b"/>
            <a:pathLst>
              <a:path w="5431658" h="3578104">
                <a:moveTo>
                  <a:pt x="0" y="0"/>
                </a:moveTo>
                <a:lnTo>
                  <a:pt x="5431658" y="0"/>
                </a:lnTo>
                <a:lnTo>
                  <a:pt x="5431658" y="3578104"/>
                </a:lnTo>
                <a:lnTo>
                  <a:pt x="0" y="3578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09340" y="657225"/>
            <a:ext cx="1341444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420" y="5123994"/>
            <a:ext cx="4274516" cy="220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Showing all the evaluation visualization for DistilBERT model including confusion matrix, per-class accuracy, SHAP force plot and SHAP combined bar chart.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791129"/>
            <a:ext cx="427723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Evaluation details for the DistilBERT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4640" y="-10272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9"/>
                </a:lnTo>
                <a:lnTo>
                  <a:pt x="0" y="176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358469" y="2093434"/>
            <a:ext cx="5546461" cy="2925758"/>
          </a:xfrm>
          <a:custGeom>
            <a:avLst/>
            <a:gdLst/>
            <a:ahLst/>
            <a:cxnLst/>
            <a:rect l="l" t="t" r="r" b="b"/>
            <a:pathLst>
              <a:path w="5546461" h="2925758">
                <a:moveTo>
                  <a:pt x="0" y="0"/>
                </a:moveTo>
                <a:lnTo>
                  <a:pt x="5546461" y="0"/>
                </a:lnTo>
                <a:lnTo>
                  <a:pt x="5546461" y="2925758"/>
                </a:lnTo>
                <a:lnTo>
                  <a:pt x="0" y="292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70279" y="1999403"/>
            <a:ext cx="5889021" cy="3113820"/>
          </a:xfrm>
          <a:custGeom>
            <a:avLst/>
            <a:gdLst/>
            <a:ahLst/>
            <a:cxnLst/>
            <a:rect l="l" t="t" r="r" b="b"/>
            <a:pathLst>
              <a:path w="5889021" h="3113820">
                <a:moveTo>
                  <a:pt x="0" y="0"/>
                </a:moveTo>
                <a:lnTo>
                  <a:pt x="5889021" y="0"/>
                </a:lnTo>
                <a:lnTo>
                  <a:pt x="5889021" y="3113820"/>
                </a:lnTo>
                <a:lnTo>
                  <a:pt x="0" y="311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210917" y="5394487"/>
            <a:ext cx="5841565" cy="3585260"/>
          </a:xfrm>
          <a:custGeom>
            <a:avLst/>
            <a:gdLst/>
            <a:ahLst/>
            <a:cxnLst/>
            <a:rect l="l" t="t" r="r" b="b"/>
            <a:pathLst>
              <a:path w="5841565" h="3585260">
                <a:moveTo>
                  <a:pt x="0" y="0"/>
                </a:moveTo>
                <a:lnTo>
                  <a:pt x="5841564" y="0"/>
                </a:lnTo>
                <a:lnTo>
                  <a:pt x="5841564" y="3585260"/>
                </a:lnTo>
                <a:lnTo>
                  <a:pt x="0" y="3585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18976" y="5362079"/>
            <a:ext cx="4729520" cy="3617668"/>
          </a:xfrm>
          <a:custGeom>
            <a:avLst/>
            <a:gdLst/>
            <a:ahLst/>
            <a:cxnLst/>
            <a:rect l="l" t="t" r="r" b="b"/>
            <a:pathLst>
              <a:path w="4729520" h="3617668">
                <a:moveTo>
                  <a:pt x="0" y="0"/>
                </a:moveTo>
                <a:lnTo>
                  <a:pt x="4729520" y="0"/>
                </a:lnTo>
                <a:lnTo>
                  <a:pt x="4729520" y="3617668"/>
                </a:lnTo>
                <a:lnTo>
                  <a:pt x="0" y="3617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827828"/>
            <a:ext cx="1341444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480050"/>
            <a:ext cx="3751938" cy="146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315938"/>
                </a:solidFill>
                <a:latin typeface="Open Sauce"/>
                <a:ea typeface="Open Sauce"/>
                <a:cs typeface="Open Sauce"/>
                <a:sym typeface="Open Sauce"/>
              </a:rPr>
              <a:t>Insights generated and displayed through visualizations on various aspects.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54327"/>
            <a:ext cx="375193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Insight generated after model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3291" y="2940439"/>
            <a:ext cx="1200141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998781" y="-3723493"/>
            <a:ext cx="7051175" cy="8406468"/>
            <a:chOff x="0" y="0"/>
            <a:chExt cx="9401566" cy="11208623"/>
          </a:xfrm>
        </p:grpSpPr>
        <p:sp>
          <p:nvSpPr>
            <p:cNvPr id="4" name="Freeform 4"/>
            <p:cNvSpPr/>
            <p:nvPr/>
          </p:nvSpPr>
          <p:spPr>
            <a:xfrm rot="2123307">
              <a:off x="2786108" y="1090831"/>
              <a:ext cx="5528000" cy="5519170"/>
            </a:xfrm>
            <a:custGeom>
              <a:avLst/>
              <a:gdLst/>
              <a:ahLst/>
              <a:cxnLst/>
              <a:rect l="l" t="t" r="r" b="b"/>
              <a:pathLst>
                <a:path w="5528000" h="5519170">
                  <a:moveTo>
                    <a:pt x="0" y="0"/>
                  </a:moveTo>
                  <a:lnTo>
                    <a:pt x="5528000" y="0"/>
                  </a:lnTo>
                  <a:lnTo>
                    <a:pt x="5528000" y="5519170"/>
                  </a:lnTo>
                  <a:lnTo>
                    <a:pt x="0" y="551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-124244">
              <a:off x="5239820" y="6532468"/>
              <a:ext cx="3350267" cy="3344915"/>
            </a:xfrm>
            <a:custGeom>
              <a:avLst/>
              <a:gdLst/>
              <a:ahLst/>
              <a:cxnLst/>
              <a:rect l="l" t="t" r="r" b="b"/>
              <a:pathLst>
                <a:path w="3350267" h="3344915">
                  <a:moveTo>
                    <a:pt x="0" y="0"/>
                  </a:moveTo>
                  <a:lnTo>
                    <a:pt x="3350267" y="0"/>
                  </a:lnTo>
                  <a:lnTo>
                    <a:pt x="3350267" y="3344916"/>
                  </a:lnTo>
                  <a:lnTo>
                    <a:pt x="0" y="3344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 rot="-770015">
              <a:off x="452780" y="6160506"/>
              <a:ext cx="4601780" cy="4594429"/>
            </a:xfrm>
            <a:custGeom>
              <a:avLst/>
              <a:gdLst/>
              <a:ahLst/>
              <a:cxnLst/>
              <a:rect l="l" t="t" r="r" b="b"/>
              <a:pathLst>
                <a:path w="4601780" h="4594429">
                  <a:moveTo>
                    <a:pt x="0" y="0"/>
                  </a:moveTo>
                  <a:lnTo>
                    <a:pt x="4601780" y="0"/>
                  </a:lnTo>
                  <a:lnTo>
                    <a:pt x="4601780" y="4594429"/>
                  </a:lnTo>
                  <a:lnTo>
                    <a:pt x="0" y="4594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84267" y="4312039"/>
            <a:ext cx="6096657" cy="7850315"/>
            <a:chOff x="0" y="0"/>
            <a:chExt cx="8128876" cy="10467087"/>
          </a:xfrm>
        </p:grpSpPr>
        <p:sp>
          <p:nvSpPr>
            <p:cNvPr id="8" name="Freeform 8"/>
            <p:cNvSpPr/>
            <p:nvPr/>
          </p:nvSpPr>
          <p:spPr>
            <a:xfrm>
              <a:off x="86150" y="0"/>
              <a:ext cx="5083875" cy="5075754"/>
            </a:xfrm>
            <a:custGeom>
              <a:avLst/>
              <a:gdLst/>
              <a:ahLst/>
              <a:cxnLst/>
              <a:rect l="l" t="t" r="r" b="b"/>
              <a:pathLst>
                <a:path w="5083875" h="5075754">
                  <a:moveTo>
                    <a:pt x="0" y="0"/>
                  </a:moveTo>
                  <a:lnTo>
                    <a:pt x="5083875" y="0"/>
                  </a:lnTo>
                  <a:lnTo>
                    <a:pt x="5083875" y="5075754"/>
                  </a:lnTo>
                  <a:lnTo>
                    <a:pt x="0" y="507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 rot="-2247552">
              <a:off x="4429994" y="3537663"/>
              <a:ext cx="3081103" cy="3076182"/>
            </a:xfrm>
            <a:custGeom>
              <a:avLst/>
              <a:gdLst/>
              <a:ahLst/>
              <a:cxnLst/>
              <a:rect l="l" t="t" r="r" b="b"/>
              <a:pathLst>
                <a:path w="3081103" h="3076182">
                  <a:moveTo>
                    <a:pt x="0" y="0"/>
                  </a:moveTo>
                  <a:lnTo>
                    <a:pt x="3081103" y="0"/>
                  </a:lnTo>
                  <a:lnTo>
                    <a:pt x="3081103" y="3076182"/>
                  </a:lnTo>
                  <a:lnTo>
                    <a:pt x="0" y="307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rot="-2893323">
              <a:off x="869239" y="5368891"/>
              <a:ext cx="4232068" cy="4225308"/>
            </a:xfrm>
            <a:custGeom>
              <a:avLst/>
              <a:gdLst/>
              <a:ahLst/>
              <a:cxnLst/>
              <a:rect l="l" t="t" r="r" b="b"/>
              <a:pathLst>
                <a:path w="4232068" h="4225308">
                  <a:moveTo>
                    <a:pt x="0" y="0"/>
                  </a:moveTo>
                  <a:lnTo>
                    <a:pt x="4232068" y="0"/>
                  </a:lnTo>
                  <a:lnTo>
                    <a:pt x="4232068" y="4225308"/>
                  </a:lnTo>
                  <a:lnTo>
                    <a:pt x="0" y="4225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694640" y="-10272"/>
            <a:ext cx="3361594" cy="1763619"/>
          </a:xfrm>
          <a:custGeom>
            <a:avLst/>
            <a:gdLst/>
            <a:ahLst/>
            <a:cxnLst/>
            <a:rect l="l" t="t" r="r" b="b"/>
            <a:pathLst>
              <a:path w="3361594" h="1763619">
                <a:moveTo>
                  <a:pt x="0" y="0"/>
                </a:moveTo>
                <a:lnTo>
                  <a:pt x="3361594" y="0"/>
                </a:lnTo>
                <a:lnTo>
                  <a:pt x="3361594" y="1763619"/>
                </a:lnTo>
                <a:lnTo>
                  <a:pt x="0" y="176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5714503" y="7488895"/>
            <a:ext cx="6858993" cy="623161"/>
            <a:chOff x="0" y="0"/>
            <a:chExt cx="1964438" cy="1784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4438" cy="178475"/>
            </a:xfrm>
            <a:custGeom>
              <a:avLst/>
              <a:gdLst/>
              <a:ahLst/>
              <a:cxnLst/>
              <a:rect l="l" t="t" r="r" b="b"/>
              <a:pathLst>
                <a:path w="1964438" h="178475">
                  <a:moveTo>
                    <a:pt x="982219" y="0"/>
                  </a:moveTo>
                  <a:cubicBezTo>
                    <a:pt x="439754" y="0"/>
                    <a:pt x="0" y="39953"/>
                    <a:pt x="0" y="89238"/>
                  </a:cubicBezTo>
                  <a:cubicBezTo>
                    <a:pt x="0" y="138522"/>
                    <a:pt x="439754" y="178475"/>
                    <a:pt x="982219" y="178475"/>
                  </a:cubicBezTo>
                  <a:cubicBezTo>
                    <a:pt x="1524683" y="178475"/>
                    <a:pt x="1964438" y="138522"/>
                    <a:pt x="1964438" y="89238"/>
                  </a:cubicBezTo>
                  <a:cubicBezTo>
                    <a:pt x="1964438" y="39953"/>
                    <a:pt x="1524683" y="0"/>
                    <a:pt x="982219" y="0"/>
                  </a:cubicBezTo>
                  <a:close/>
                </a:path>
              </a:pathLst>
            </a:custGeom>
            <a:solidFill>
              <a:srgbClr val="FDB9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166" y="-21368"/>
              <a:ext cx="1596106" cy="183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8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164063" y="4682974"/>
            <a:ext cx="3959874" cy="3117501"/>
          </a:xfrm>
          <a:custGeom>
            <a:avLst/>
            <a:gdLst/>
            <a:ahLst/>
            <a:cxnLst/>
            <a:rect l="l" t="t" r="r" b="b"/>
            <a:pathLst>
              <a:path w="3959874" h="3117501">
                <a:moveTo>
                  <a:pt x="0" y="0"/>
                </a:moveTo>
                <a:lnTo>
                  <a:pt x="3959874" y="0"/>
                </a:lnTo>
                <a:lnTo>
                  <a:pt x="3959874" y="3117501"/>
                </a:lnTo>
                <a:lnTo>
                  <a:pt x="0" y="311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Custom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Cardo Bold</vt:lpstr>
      <vt:lpstr>Open Sauce Bold</vt:lpstr>
      <vt:lpstr>Open Sauce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Clean Gears Green Project Review Corporate Presentation </dc:title>
  <cp:lastModifiedBy>Devanshu Singh</cp:lastModifiedBy>
  <cp:revision>2</cp:revision>
  <dcterms:created xsi:type="dcterms:W3CDTF">2006-08-16T00:00:00Z</dcterms:created>
  <dcterms:modified xsi:type="dcterms:W3CDTF">2026-05-07T17:25:16Z</dcterms:modified>
  <dc:identifier>DAGj9xHwZjQ</dc:identifier>
</cp:coreProperties>
</file>